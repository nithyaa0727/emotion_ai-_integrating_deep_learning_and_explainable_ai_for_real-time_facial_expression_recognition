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78" r:id="rId2"/>
    <p:sldId id="258" r:id="rId3"/>
    <p:sldId id="284" r:id="rId4"/>
    <p:sldId id="275" r:id="rId5"/>
    <p:sldId id="260" r:id="rId6"/>
    <p:sldId id="285" r:id="rId7"/>
    <p:sldId id="286" r:id="rId8"/>
    <p:sldId id="262" r:id="rId9"/>
    <p:sldId id="283" r:id="rId10"/>
    <p:sldId id="263" r:id="rId11"/>
    <p:sldId id="265" r:id="rId12"/>
    <p:sldId id="266" r:id="rId13"/>
    <p:sldId id="287" r:id="rId14"/>
    <p:sldId id="274"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sz="2400">
                <a:latin typeface="Times New Roman" panose="02020603050405020304" pitchFamily="18" charset="0"/>
                <a:cs typeface="Times New Roman" panose="02020603050405020304" pitchFamily="18" charset="0"/>
              </a:rPr>
              <a:t>Comparison Graph</a:t>
            </a:r>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Sheet1!$C$5</c:f>
              <c:strCache>
                <c:ptCount val="1"/>
                <c:pt idx="0">
                  <c:v>CNN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Sheet1!$D$4:$G$4</c:f>
              <c:strCache>
                <c:ptCount val="4"/>
                <c:pt idx="0">
                  <c:v>Accuracy</c:v>
                </c:pt>
                <c:pt idx="1">
                  <c:v>Precision</c:v>
                </c:pt>
                <c:pt idx="2">
                  <c:v>Recall</c:v>
                </c:pt>
                <c:pt idx="3">
                  <c:v>F1 – score</c:v>
                </c:pt>
              </c:strCache>
            </c:strRef>
          </c:cat>
          <c:val>
            <c:numRef>
              <c:f>Sheet1!$D$5:$G$5</c:f>
              <c:numCache>
                <c:formatCode>General</c:formatCode>
                <c:ptCount val="4"/>
                <c:pt idx="0">
                  <c:v>0.54420000000000002</c:v>
                </c:pt>
                <c:pt idx="1">
                  <c:v>0.58930000000000005</c:v>
                </c:pt>
                <c:pt idx="2">
                  <c:v>0.50609999999999999</c:v>
                </c:pt>
                <c:pt idx="3">
                  <c:v>0.52929999999999999</c:v>
                </c:pt>
              </c:numCache>
            </c:numRef>
          </c:val>
          <c:extLst>
            <c:ext xmlns:c16="http://schemas.microsoft.com/office/drawing/2014/chart" uri="{C3380CC4-5D6E-409C-BE32-E72D297353CC}">
              <c16:uniqueId val="{00000000-0211-43BB-8F03-C560996CB191}"/>
            </c:ext>
          </c:extLst>
        </c:ser>
        <c:ser>
          <c:idx val="1"/>
          <c:order val="1"/>
          <c:tx>
            <c:strRef>
              <c:f>Sheet1!$C$6</c:f>
              <c:strCache>
                <c:ptCount val="1"/>
                <c:pt idx="0">
                  <c:v>ViT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Sheet1!$D$4:$G$4</c:f>
              <c:strCache>
                <c:ptCount val="4"/>
                <c:pt idx="0">
                  <c:v>Accuracy</c:v>
                </c:pt>
                <c:pt idx="1">
                  <c:v>Precision</c:v>
                </c:pt>
                <c:pt idx="2">
                  <c:v>Recall</c:v>
                </c:pt>
                <c:pt idx="3">
                  <c:v>F1 – score</c:v>
                </c:pt>
              </c:strCache>
            </c:strRef>
          </c:cat>
          <c:val>
            <c:numRef>
              <c:f>Sheet1!$D$6:$G$6</c:f>
              <c:numCache>
                <c:formatCode>General</c:formatCode>
                <c:ptCount val="4"/>
                <c:pt idx="0">
                  <c:v>0.66149999999999998</c:v>
                </c:pt>
                <c:pt idx="1">
                  <c:v>0.6169</c:v>
                </c:pt>
                <c:pt idx="2">
                  <c:v>0.67279999999999995</c:v>
                </c:pt>
                <c:pt idx="3">
                  <c:v>0.63329999999999997</c:v>
                </c:pt>
              </c:numCache>
            </c:numRef>
          </c:val>
          <c:extLst>
            <c:ext xmlns:c16="http://schemas.microsoft.com/office/drawing/2014/chart" uri="{C3380CC4-5D6E-409C-BE32-E72D297353CC}">
              <c16:uniqueId val="{00000001-0211-43BB-8F03-C560996CB191}"/>
            </c:ext>
          </c:extLst>
        </c:ser>
        <c:ser>
          <c:idx val="2"/>
          <c:order val="2"/>
          <c:tx>
            <c:strRef>
              <c:f>Sheet1!$C$7</c:f>
              <c:strCache>
                <c:ptCount val="1"/>
                <c:pt idx="0">
                  <c:v>CNN + ViT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Sheet1!$D$4:$G$4</c:f>
              <c:strCache>
                <c:ptCount val="4"/>
                <c:pt idx="0">
                  <c:v>Accuracy</c:v>
                </c:pt>
                <c:pt idx="1">
                  <c:v>Precision</c:v>
                </c:pt>
                <c:pt idx="2">
                  <c:v>Recall</c:v>
                </c:pt>
                <c:pt idx="3">
                  <c:v>F1 – score</c:v>
                </c:pt>
              </c:strCache>
            </c:strRef>
          </c:cat>
          <c:val>
            <c:numRef>
              <c:f>Sheet1!$D$7:$G$7</c:f>
              <c:numCache>
                <c:formatCode>General</c:formatCode>
                <c:ptCount val="4"/>
                <c:pt idx="0">
                  <c:v>0.6663</c:v>
                </c:pt>
                <c:pt idx="1">
                  <c:v>0.65480000000000005</c:v>
                </c:pt>
                <c:pt idx="2">
                  <c:v>0.6452</c:v>
                </c:pt>
                <c:pt idx="3">
                  <c:v>0.64800000000000002</c:v>
                </c:pt>
              </c:numCache>
            </c:numRef>
          </c:val>
          <c:extLst>
            <c:ext xmlns:c16="http://schemas.microsoft.com/office/drawing/2014/chart" uri="{C3380CC4-5D6E-409C-BE32-E72D297353CC}">
              <c16:uniqueId val="{00000002-0211-43BB-8F03-C560996CB191}"/>
            </c:ext>
          </c:extLst>
        </c:ser>
        <c:ser>
          <c:idx val="3"/>
          <c:order val="3"/>
          <c:tx>
            <c:strRef>
              <c:f>Sheet1!$C$8</c:f>
              <c:strCache>
                <c:ptCount val="1"/>
                <c:pt idx="0">
                  <c:v>Xception</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Sheet1!$D$4:$G$4</c:f>
              <c:strCache>
                <c:ptCount val="4"/>
                <c:pt idx="0">
                  <c:v>Accuracy</c:v>
                </c:pt>
                <c:pt idx="1">
                  <c:v>Precision</c:v>
                </c:pt>
                <c:pt idx="2">
                  <c:v>Recall</c:v>
                </c:pt>
                <c:pt idx="3">
                  <c:v>F1 – score</c:v>
                </c:pt>
              </c:strCache>
            </c:strRef>
          </c:cat>
          <c:val>
            <c:numRef>
              <c:f>Sheet1!$D$8:$G$8</c:f>
              <c:numCache>
                <c:formatCode>General</c:formatCode>
                <c:ptCount val="4"/>
                <c:pt idx="0">
                  <c:v>0.68920000000000003</c:v>
                </c:pt>
                <c:pt idx="1">
                  <c:v>0.69810000000000005</c:v>
                </c:pt>
                <c:pt idx="2">
                  <c:v>0.67720000000000002</c:v>
                </c:pt>
                <c:pt idx="3">
                  <c:v>0.68330000000000002</c:v>
                </c:pt>
              </c:numCache>
            </c:numRef>
          </c:val>
          <c:extLst>
            <c:ext xmlns:c16="http://schemas.microsoft.com/office/drawing/2014/chart" uri="{C3380CC4-5D6E-409C-BE32-E72D297353CC}">
              <c16:uniqueId val="{00000003-0211-43BB-8F03-C560996CB191}"/>
            </c:ext>
          </c:extLst>
        </c:ser>
        <c:dLbls>
          <c:showLegendKey val="0"/>
          <c:showVal val="0"/>
          <c:showCatName val="0"/>
          <c:showSerName val="0"/>
          <c:showPercent val="0"/>
          <c:showBubbleSize val="0"/>
        </c:dLbls>
        <c:gapWidth val="219"/>
        <c:overlap val="-27"/>
        <c:axId val="392172080"/>
        <c:axId val="392174000"/>
      </c:barChart>
      <c:catAx>
        <c:axId val="39217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2174000"/>
        <c:crosses val="autoZero"/>
        <c:auto val="1"/>
        <c:lblAlgn val="ctr"/>
        <c:lblOffset val="100"/>
        <c:noMultiLvlLbl val="0"/>
      </c:catAx>
      <c:valAx>
        <c:axId val="392174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21720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B8D28CB-B14E-474E-A44D-BB4E1366BDC5}"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B8D28CB-B14E-474E-A44D-BB4E1366BDC5}"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8D28CB-B14E-474E-A44D-BB4E1366BDC5}"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B8D28CB-B14E-474E-A44D-BB4E1366BDC5}" type="datetimeFigureOut">
              <a:rPr lang="en-GB" smtClean="0"/>
              <a:t>05/03/2026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B8D28CB-B14E-474E-A44D-BB4E1366BDC5}" type="datetimeFigureOut">
              <a:rPr lang="en-GB" smtClean="0"/>
              <a:t>05/03/2026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B8D28CB-B14E-474E-A44D-BB4E1366BDC5}" type="datetimeFigureOut">
              <a:rPr lang="en-GB" smtClean="0"/>
              <a:t>05/03/2026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8D28CB-B14E-474E-A44D-BB4E1366BDC5}" type="datetimeFigureOut">
              <a:rPr lang="en-GB" smtClean="0"/>
              <a:t>05/03/2026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8D28CB-B14E-474E-A44D-BB4E1366BDC5}" type="datetimeFigureOut">
              <a:rPr lang="en-GB" smtClean="0"/>
              <a:t>05/03/2026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B8D28CB-B14E-474E-A44D-BB4E1366BDC5}" type="datetimeFigureOut">
              <a:rPr lang="en-GB" smtClean="0"/>
              <a:t>05/03/2026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B8D28CB-B14E-474E-A44D-BB4E1366BDC5}"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B8D28CB-B14E-474E-A44D-BB4E1366BDC5}"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2CD4B1-937A-4421-B47F-752AE13E5813}"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8D28CB-B14E-474E-A44D-BB4E1366BDC5}" type="datetimeFigureOut">
              <a:rPr lang="en-GB" smtClean="0"/>
              <a:t>05/03/2026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2CD4B1-937A-4421-B47F-752AE13E5813}"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8085" y="4054874"/>
            <a:ext cx="11451771" cy="2737975"/>
          </a:xfrm>
        </p:spPr>
        <p:txBody>
          <a:bodyPr>
            <a:normAutofit fontScale="90000"/>
          </a:bodyPr>
          <a:lstStyle/>
          <a:p>
            <a:pPr>
              <a:lnSpc>
                <a:spcPct val="100000"/>
              </a:lnSpc>
            </a:pP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r>
              <a:rPr lang="en-GB" sz="3100" dirty="0">
                <a:latin typeface="Times New Roman" panose="02020603050405020304" pitchFamily="18" charset="0"/>
                <a:cs typeface="Times New Roman" panose="02020603050405020304" pitchFamily="18" charset="0"/>
              </a:rPr>
              <a:t>Capstone Project – Phase II</a:t>
            </a:r>
            <a:br>
              <a:rPr lang="en-GB" sz="3100" dirty="0">
                <a:latin typeface="Times New Roman" panose="02020603050405020304" pitchFamily="18" charset="0"/>
                <a:cs typeface="Times New Roman" panose="02020603050405020304" pitchFamily="18" charset="0"/>
              </a:rPr>
            </a:br>
            <a:r>
              <a:rPr lang="en-GB" sz="3100" dirty="0">
                <a:latin typeface="Times New Roman" panose="02020603050405020304" pitchFamily="18" charset="0"/>
                <a:cs typeface="Times New Roman" panose="02020603050405020304" pitchFamily="18" charset="0"/>
              </a:rPr>
              <a:t>Project Title : </a:t>
            </a:r>
            <a:r>
              <a:rPr lang="en-GB" sz="3100" b="1" dirty="0">
                <a:latin typeface="Times New Roman" panose="02020603050405020304" pitchFamily="18" charset="0"/>
                <a:cs typeface="Times New Roman" panose="02020603050405020304" pitchFamily="18" charset="0"/>
              </a:rPr>
              <a:t>Real-Time Facial Expression Recognition using Deep Learning</a:t>
            </a:r>
            <a:br>
              <a:rPr lang="en-GB" sz="3100" dirty="0">
                <a:latin typeface="Times New Roman" panose="02020603050405020304" pitchFamily="18" charset="0"/>
                <a:cs typeface="Times New Roman" panose="02020603050405020304" pitchFamily="18" charset="0"/>
              </a:rPr>
            </a:br>
            <a:r>
              <a:rPr lang="en-GB" sz="3100" dirty="0">
                <a:latin typeface="Times New Roman" panose="02020603050405020304" pitchFamily="18" charset="0"/>
                <a:cs typeface="Times New Roman" panose="02020603050405020304" pitchFamily="18" charset="0"/>
              </a:rPr>
              <a:t>Team Details : </a:t>
            </a:r>
            <a:br>
              <a:rPr lang="en-GB" sz="3100" dirty="0">
                <a:latin typeface="Times New Roman" panose="02020603050405020304" pitchFamily="18" charset="0"/>
                <a:cs typeface="Times New Roman" panose="02020603050405020304" pitchFamily="18" charset="0"/>
              </a:rPr>
            </a:br>
            <a:br>
              <a:rPr lang="en-GB" sz="3100" dirty="0">
                <a:latin typeface="Times New Roman" panose="02020603050405020304" pitchFamily="18" charset="0"/>
                <a:cs typeface="Times New Roman" panose="02020603050405020304" pitchFamily="18" charset="0"/>
              </a:rPr>
            </a:br>
            <a:br>
              <a:rPr lang="en-GB" sz="3100" dirty="0">
                <a:latin typeface="Times New Roman" panose="02020603050405020304" pitchFamily="18" charset="0"/>
                <a:cs typeface="Times New Roman" panose="02020603050405020304" pitchFamily="18" charset="0"/>
              </a:rPr>
            </a:br>
            <a:br>
              <a:rPr lang="en-GB" sz="3100" dirty="0">
                <a:latin typeface="Times New Roman" panose="02020603050405020304" pitchFamily="18" charset="0"/>
                <a:cs typeface="Times New Roman" panose="02020603050405020304" pitchFamily="18" charset="0"/>
              </a:rPr>
            </a:br>
            <a:br>
              <a:rPr lang="en-GB" sz="3100" dirty="0">
                <a:latin typeface="Times New Roman" panose="02020603050405020304" pitchFamily="18" charset="0"/>
                <a:cs typeface="Times New Roman" panose="02020603050405020304" pitchFamily="18" charset="0"/>
              </a:rPr>
            </a:br>
            <a:br>
              <a:rPr lang="en-GB" sz="3100" dirty="0">
                <a:latin typeface="Times New Roman" panose="02020603050405020304" pitchFamily="18" charset="0"/>
                <a:cs typeface="Times New Roman" panose="02020603050405020304" pitchFamily="18" charset="0"/>
              </a:rPr>
            </a:br>
            <a:br>
              <a:rPr lang="en-GB" sz="3100" dirty="0">
                <a:latin typeface="Times New Roman" panose="02020603050405020304" pitchFamily="18" charset="0"/>
                <a:cs typeface="Times New Roman" panose="02020603050405020304" pitchFamily="18" charset="0"/>
              </a:rPr>
            </a:br>
            <a:r>
              <a:rPr lang="en-GB" sz="3100" dirty="0">
                <a:latin typeface="Times New Roman" panose="02020603050405020304" pitchFamily="18" charset="0"/>
                <a:cs typeface="Times New Roman" panose="02020603050405020304" pitchFamily="18" charset="0"/>
              </a:rPr>
              <a:t>Guided by :  Dr. S. Oswalt Manoj</a:t>
            </a:r>
            <a:br>
              <a:rPr lang="en-GB" sz="3100" dirty="0">
                <a:latin typeface="Times New Roman" panose="02020603050405020304" pitchFamily="18" charset="0"/>
                <a:cs typeface="Times New Roman" panose="02020603050405020304" pitchFamily="18" charset="0"/>
              </a:rPr>
            </a:br>
            <a:endParaRPr lang="en-GB" sz="31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858768"/>
            <a:ext cx="9144000" cy="1399032"/>
          </a:xfrm>
        </p:spPr>
        <p:txBody>
          <a:bodyPr>
            <a:noAutofit/>
          </a:bodyPr>
          <a:lstStyle/>
          <a:p>
            <a:endParaRPr lang="en-GB" sz="3600" dirty="0"/>
          </a:p>
          <a:p>
            <a:endParaRPr lang="en-GB" sz="3600" dirty="0"/>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96227" y="65151"/>
            <a:ext cx="5129530" cy="948690"/>
          </a:xfrm>
          <a:prstGeom prst="rect">
            <a:avLst/>
          </a:prstGeom>
        </p:spPr>
      </p:pic>
      <p:graphicFrame>
        <p:nvGraphicFramePr>
          <p:cNvPr id="5" name="Table 4"/>
          <p:cNvGraphicFramePr>
            <a:graphicFrameLocks noGrp="1"/>
          </p:cNvGraphicFramePr>
          <p:nvPr/>
        </p:nvGraphicFramePr>
        <p:xfrm>
          <a:off x="3045036" y="3631184"/>
          <a:ext cx="6297867" cy="1854200"/>
        </p:xfrm>
        <a:graphic>
          <a:graphicData uri="http://schemas.openxmlformats.org/drawingml/2006/table">
            <a:tbl>
              <a:tblPr firstRow="1" bandRow="1">
                <a:tableStyleId>{00A15C55-8517-42AA-B614-E9B94910E393}</a:tableStyleId>
              </a:tblPr>
              <a:tblGrid>
                <a:gridCol w="2793365">
                  <a:extLst>
                    <a:ext uri="{9D8B030D-6E8A-4147-A177-3AD203B41FA5}">
                      <a16:colId xmlns:a16="http://schemas.microsoft.com/office/drawing/2014/main" val="20000"/>
                    </a:ext>
                  </a:extLst>
                </a:gridCol>
                <a:gridCol w="3504502">
                  <a:extLst>
                    <a:ext uri="{9D8B030D-6E8A-4147-A177-3AD203B41FA5}">
                      <a16:colId xmlns:a16="http://schemas.microsoft.com/office/drawing/2014/main" val="20001"/>
                    </a:ext>
                  </a:extLst>
                </a:gridCol>
              </a:tblGrid>
              <a:tr h="370840">
                <a:tc>
                  <a:txBody>
                    <a:bodyPr/>
                    <a:lstStyle/>
                    <a:p>
                      <a:pPr algn="ctr"/>
                      <a:r>
                        <a:rPr lang="en-IN" dirty="0"/>
                        <a:t>NAME</a:t>
                      </a:r>
                    </a:p>
                  </a:txBody>
                  <a:tcPr/>
                </a:tc>
                <a:tc>
                  <a:txBody>
                    <a:bodyPr/>
                    <a:lstStyle/>
                    <a:p>
                      <a:pPr algn="ctr"/>
                      <a:r>
                        <a:rPr lang="en-IN" dirty="0"/>
                        <a:t>REGISTRATION</a:t>
                      </a:r>
                    </a:p>
                  </a:txBody>
                  <a:tcPr/>
                </a:tc>
                <a:extLst>
                  <a:ext uri="{0D108BD9-81ED-4DB2-BD59-A6C34878D82A}">
                    <a16:rowId xmlns:a16="http://schemas.microsoft.com/office/drawing/2014/main" val="10000"/>
                  </a:ext>
                </a:extLst>
              </a:tr>
              <a:tr h="370840">
                <a:tc>
                  <a:txBody>
                    <a:bodyPr/>
                    <a:lstStyle/>
                    <a:p>
                      <a:pPr algn="just"/>
                      <a:r>
                        <a:rPr lang="en-IN" dirty="0"/>
                        <a:t>Ms. Pavana V Reddy</a:t>
                      </a:r>
                    </a:p>
                  </a:txBody>
                  <a:tcPr/>
                </a:tc>
                <a:tc>
                  <a:txBody>
                    <a:bodyPr/>
                    <a:lstStyle/>
                    <a:p>
                      <a:pPr algn="ctr"/>
                      <a:r>
                        <a:rPr lang="en-IN" dirty="0"/>
                        <a:t>2022BCSE07AED915</a:t>
                      </a:r>
                    </a:p>
                  </a:txBody>
                  <a:tcPr/>
                </a:tc>
                <a:extLst>
                  <a:ext uri="{0D108BD9-81ED-4DB2-BD59-A6C34878D82A}">
                    <a16:rowId xmlns:a16="http://schemas.microsoft.com/office/drawing/2014/main" val="10001"/>
                  </a:ext>
                </a:extLst>
              </a:tr>
              <a:tr h="370840">
                <a:tc>
                  <a:txBody>
                    <a:bodyPr/>
                    <a:lstStyle/>
                    <a:p>
                      <a:pPr algn="just"/>
                      <a:r>
                        <a:rPr lang="en-IN" dirty="0"/>
                        <a:t>Ms. </a:t>
                      </a:r>
                      <a:r>
                        <a:rPr lang="en-IN" dirty="0" err="1"/>
                        <a:t>Yeduginjala</a:t>
                      </a:r>
                      <a:r>
                        <a:rPr lang="en-IN" dirty="0"/>
                        <a:t> Likhitha </a:t>
                      </a:r>
                    </a:p>
                  </a:txBody>
                  <a:tcPr/>
                </a:tc>
                <a:tc>
                  <a:txBody>
                    <a:bodyPr/>
                    <a:lstStyle/>
                    <a:p>
                      <a:pPr algn="ctr"/>
                      <a:r>
                        <a:rPr lang="en-IN" dirty="0"/>
                        <a:t>2022BCSE07AED826</a:t>
                      </a:r>
                    </a:p>
                  </a:txBody>
                  <a:tcPr/>
                </a:tc>
                <a:extLst>
                  <a:ext uri="{0D108BD9-81ED-4DB2-BD59-A6C34878D82A}">
                    <a16:rowId xmlns:a16="http://schemas.microsoft.com/office/drawing/2014/main" val="10002"/>
                  </a:ext>
                </a:extLst>
              </a:tr>
              <a:tr h="370840">
                <a:tc>
                  <a:txBody>
                    <a:bodyPr/>
                    <a:lstStyle/>
                    <a:p>
                      <a:pPr algn="just"/>
                      <a:r>
                        <a:rPr lang="en-IN" dirty="0"/>
                        <a:t>Ms. Ankita Sonth</a:t>
                      </a:r>
                    </a:p>
                  </a:txBody>
                  <a:tcPr/>
                </a:tc>
                <a:tc>
                  <a:txBody>
                    <a:bodyPr/>
                    <a:lstStyle/>
                    <a:p>
                      <a:pPr algn="ctr"/>
                      <a:r>
                        <a:rPr lang="en-IN" dirty="0"/>
                        <a:t>2022BCSE07AED860</a:t>
                      </a:r>
                    </a:p>
                  </a:txBody>
                  <a:tcPr/>
                </a:tc>
                <a:extLst>
                  <a:ext uri="{0D108BD9-81ED-4DB2-BD59-A6C34878D82A}">
                    <a16:rowId xmlns:a16="http://schemas.microsoft.com/office/drawing/2014/main" val="10003"/>
                  </a:ext>
                </a:extLst>
              </a:tr>
              <a:tr h="370840">
                <a:tc>
                  <a:txBody>
                    <a:bodyPr/>
                    <a:lstStyle/>
                    <a:p>
                      <a:pPr algn="just"/>
                      <a:r>
                        <a:rPr lang="en-IN" dirty="0"/>
                        <a:t>Ms. Nithya N</a:t>
                      </a:r>
                    </a:p>
                  </a:txBody>
                  <a:tcPr/>
                </a:tc>
                <a:tc>
                  <a:txBody>
                    <a:bodyPr/>
                    <a:lstStyle/>
                    <a:p>
                      <a:pPr algn="ctr"/>
                      <a:r>
                        <a:rPr lang="en-IN" dirty="0"/>
                        <a:t>2022LCSE07AED1040</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542" y="238791"/>
            <a:ext cx="10096565" cy="887749"/>
          </a:xfrm>
        </p:spPr>
        <p:txBody>
          <a:bodyPr>
            <a:normAutofit/>
          </a:bodyPr>
          <a:lstStyle/>
          <a:p>
            <a:r>
              <a:rPr lang="en-GB" sz="2800" dirty="0">
                <a:solidFill>
                  <a:srgbClr val="002060"/>
                </a:solidFill>
                <a:latin typeface="Times New Roman" panose="02020603050405020304" pitchFamily="18" charset="0"/>
                <a:cs typeface="Times New Roman" panose="02020603050405020304" pitchFamily="18" charset="0"/>
              </a:rPr>
              <a:t>Problem </a:t>
            </a:r>
            <a:r>
              <a:rPr lang="en-US" altLang="en-GB" sz="2800" dirty="0">
                <a:solidFill>
                  <a:srgbClr val="002060"/>
                </a:solidFill>
                <a:latin typeface="Times New Roman" panose="02020603050405020304" pitchFamily="18" charset="0"/>
                <a:cs typeface="Times New Roman" panose="02020603050405020304" pitchFamily="18" charset="0"/>
              </a:rPr>
              <a:t>Statement</a:t>
            </a:r>
          </a:p>
        </p:txBody>
      </p:sp>
      <p:sp>
        <p:nvSpPr>
          <p:cNvPr id="3" name="Content Placeholder 2"/>
          <p:cNvSpPr>
            <a:spLocks noGrp="1"/>
          </p:cNvSpPr>
          <p:nvPr>
            <p:ph idx="1"/>
          </p:nvPr>
        </p:nvSpPr>
        <p:spPr>
          <a:xfrm>
            <a:off x="805542" y="1447800"/>
            <a:ext cx="10624458" cy="5256146"/>
          </a:xfrm>
        </p:spPr>
        <p:txBody>
          <a:bodyPr>
            <a:normAutofit/>
          </a:bodyPr>
          <a:lstStyle/>
          <a:p>
            <a:pPr marL="0" indent="0" algn="just">
              <a:lnSpc>
                <a:spcPct val="110000"/>
              </a:lnSpc>
              <a:buNone/>
            </a:pPr>
            <a:r>
              <a:rPr lang="en-US" sz="2400" dirty="0">
                <a:latin typeface="Times New Roman" panose="02020603050405020304" pitchFamily="18" charset="0"/>
                <a:cs typeface="Times New Roman" panose="02020603050405020304" pitchFamily="18" charset="0"/>
              </a:rPr>
              <a:t>Facial expressions are one of the most powerful non-verbal cues used by humans to convey emotions, intentions, and reactions. Accurately recognizing these expressions enables machines to better understand human emotional states, leading to more natural and effective human–computer interaction. As a result, facial expression recognition has gained significant importance in applications such as healthcare monitoring, smart education systems, security surveillance, customer service analysis, and interactive technologies.</a:t>
            </a:r>
          </a:p>
          <a:p>
            <a:pPr marL="0" indent="0" algn="just">
              <a:buNone/>
            </a:pPr>
            <a:endParaRPr lang="en-GB" sz="2400" dirty="0">
              <a:latin typeface="Times New Roman" panose="02020603050405020304" pitchFamily="18" charset="0"/>
              <a:cs typeface="Times New Roman" panose="02020603050405020304" pitchFamily="18" charset="0"/>
            </a:endParaRP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1970" y="0"/>
            <a:ext cx="4800030" cy="887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a:solidFill>
                  <a:srgbClr val="002060"/>
                </a:solidFill>
                <a:latin typeface="Times New Roman" panose="02020603050405020304" pitchFamily="18" charset="0"/>
                <a:cs typeface="Times New Roman" panose="02020603050405020304" pitchFamily="18" charset="0"/>
              </a:rPr>
              <a:t>Existing System</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838200" y="1214323"/>
            <a:ext cx="10990478" cy="5471770"/>
          </a:xfrm>
        </p:spPr>
        <p:txBody>
          <a:bodyPr>
            <a:normAutofit/>
          </a:bodyPr>
          <a:lstStyle/>
          <a:p>
            <a:pPr algn="just">
              <a:lnSpc>
                <a:spcPct val="110000"/>
              </a:lnSpc>
            </a:pPr>
            <a:r>
              <a:rPr lang="en-US" sz="2600" dirty="0">
                <a:latin typeface="Times New Roman" panose="02020603050405020304" pitchFamily="18" charset="0"/>
                <a:cs typeface="Times New Roman" panose="02020603050405020304" pitchFamily="18" charset="0"/>
              </a:rPr>
              <a:t>Use of basic CNN-based architectures </a:t>
            </a:r>
          </a:p>
          <a:p>
            <a:pPr algn="just">
              <a:lnSpc>
                <a:spcPct val="110000"/>
              </a:lnSpc>
            </a:pPr>
            <a:r>
              <a:rPr lang="en-US" sz="2600" dirty="0">
                <a:latin typeface="Times New Roman" panose="02020603050405020304" pitchFamily="18" charset="0"/>
                <a:cs typeface="Times New Roman" panose="02020603050405020304" pitchFamily="18" charset="0"/>
              </a:rPr>
              <a:t>Trained on static facial emotion datasets  </a:t>
            </a:r>
          </a:p>
          <a:p>
            <a:pPr algn="just">
              <a:lnSpc>
                <a:spcPct val="110000"/>
              </a:lnSpc>
            </a:pPr>
            <a:r>
              <a:rPr lang="en-US" sz="2600" dirty="0">
                <a:latin typeface="Times New Roman" panose="02020603050405020304" pitchFamily="18" charset="0"/>
                <a:cs typeface="Times New Roman" panose="02020603050405020304" pitchFamily="18" charset="0"/>
              </a:rPr>
              <a:t>Most existing systems recognize only a few basic emotions and often fail to accurately capture emotions like disgust and other subtle emotional variations.</a:t>
            </a:r>
          </a:p>
          <a:p>
            <a:pPr algn="just">
              <a:lnSpc>
                <a:spcPct val="110000"/>
              </a:lnSpc>
            </a:pPr>
            <a:r>
              <a:rPr lang="en-US" sz="2600" dirty="0">
                <a:latin typeface="Times New Roman" panose="02020603050405020304" pitchFamily="18" charset="0"/>
                <a:cs typeface="Times New Roman" panose="02020603050405020304" pitchFamily="18" charset="0"/>
              </a:rPr>
              <a:t>Limited focus on real-time deployment </a:t>
            </a:r>
          </a:p>
          <a:p>
            <a:pPr algn="just">
              <a:lnSpc>
                <a:spcPct val="110000"/>
              </a:lnSpc>
            </a:pPr>
            <a:r>
              <a:rPr lang="en-US" sz="2600" dirty="0">
                <a:latin typeface="Times New Roman" panose="02020603050405020304" pitchFamily="18" charset="0"/>
                <a:cs typeface="Times New Roman" panose="02020603050405020304" pitchFamily="18" charset="0"/>
              </a:rPr>
              <a:t>Model decisions are not interpretable</a:t>
            </a:r>
          </a:p>
          <a:p>
            <a:pPr algn="just"/>
            <a:endParaRPr lang="en-IN"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711" y="443875"/>
            <a:ext cx="10515600" cy="522625"/>
          </a:xfrm>
        </p:spPr>
        <p:txBody>
          <a:bodyPr>
            <a:noAutofit/>
          </a:bodyPr>
          <a:lstStyle/>
          <a:p>
            <a:r>
              <a:rPr lang="en-GB" sz="2800" dirty="0">
                <a:solidFill>
                  <a:srgbClr val="002060"/>
                </a:solidFill>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518710" y="1299503"/>
            <a:ext cx="11346543" cy="5558497"/>
          </a:xfrm>
        </p:spPr>
        <p:txBody>
          <a:bodyPr>
            <a:normAutofit fontScale="70000" lnSpcReduction="20000"/>
          </a:bodyPr>
          <a:lstStyle/>
          <a:p>
            <a:pPr algn="just">
              <a:lnSpc>
                <a:spcPct val="100000"/>
              </a:lnSpc>
            </a:pPr>
            <a:r>
              <a:rPr lang="en-US" sz="3400" dirty="0">
                <a:latin typeface="Times New Roman" panose="02020603050405020304" pitchFamily="18" charset="0"/>
                <a:cs typeface="Times New Roman" panose="02020603050405020304" pitchFamily="18" charset="0"/>
              </a:rPr>
              <a:t>The proposed system performs real-time emotion detection using deep learning techniques integrated with explainable artificial intelligence for interpretability. The facial emotion dataset consists of images representing expressions such as happiness, sadness, anger, fear, surprise, disgust, and neutrality. </a:t>
            </a:r>
          </a:p>
          <a:p>
            <a:pPr algn="just">
              <a:lnSpc>
                <a:spcPct val="100000"/>
              </a:lnSpc>
            </a:pPr>
            <a:r>
              <a:rPr lang="en-US" sz="3400" dirty="0">
                <a:latin typeface="Times New Roman" panose="02020603050405020304" pitchFamily="18" charset="0"/>
                <a:cs typeface="Times New Roman" panose="02020603050405020304" pitchFamily="18" charset="0"/>
              </a:rPr>
              <a:t>Preprocessing steps include image resizing, normalization, augmentation, tensor conversion, and pixel value scaling to ensure consistency across the dataset. The system employs multiple architectures, including Convolutional Neural Networks (CNN), Vision Transformers (</a:t>
            </a:r>
            <a:r>
              <a:rPr lang="en-US" sz="3400" dirty="0" err="1">
                <a:latin typeface="Times New Roman" panose="02020603050405020304" pitchFamily="18" charset="0"/>
                <a:cs typeface="Times New Roman" panose="02020603050405020304" pitchFamily="18" charset="0"/>
              </a:rPr>
              <a:t>ViT</a:t>
            </a:r>
            <a:r>
              <a:rPr lang="en-US" sz="3400" dirty="0">
                <a:latin typeface="Times New Roman" panose="02020603050405020304" pitchFamily="18" charset="0"/>
                <a:cs typeface="Times New Roman" panose="02020603050405020304" pitchFamily="18" charset="0"/>
              </a:rPr>
              <a:t>), a CNN–</a:t>
            </a:r>
            <a:r>
              <a:rPr lang="en-US" sz="3400" dirty="0" err="1">
                <a:latin typeface="Times New Roman" panose="02020603050405020304" pitchFamily="18" charset="0"/>
                <a:cs typeface="Times New Roman" panose="02020603050405020304" pitchFamily="18" charset="0"/>
              </a:rPr>
              <a:t>ViT</a:t>
            </a:r>
            <a:r>
              <a:rPr lang="en-US" sz="3400" dirty="0">
                <a:latin typeface="Times New Roman" panose="02020603050405020304" pitchFamily="18" charset="0"/>
                <a:cs typeface="Times New Roman" panose="02020603050405020304" pitchFamily="18" charset="0"/>
              </a:rPr>
              <a:t> hybrid, and the </a:t>
            </a:r>
            <a:r>
              <a:rPr lang="en-US" sz="3400" dirty="0" err="1">
                <a:latin typeface="Times New Roman" panose="02020603050405020304" pitchFamily="18" charset="0"/>
                <a:cs typeface="Times New Roman" panose="02020603050405020304" pitchFamily="18" charset="0"/>
              </a:rPr>
              <a:t>Xception</a:t>
            </a:r>
            <a:r>
              <a:rPr lang="en-US" sz="3400" dirty="0">
                <a:latin typeface="Times New Roman" panose="02020603050405020304" pitchFamily="18" charset="0"/>
                <a:cs typeface="Times New Roman" panose="02020603050405020304" pitchFamily="18" charset="0"/>
              </a:rPr>
              <a:t> model, to effectively capture spatial and contextual features from facial images. </a:t>
            </a:r>
          </a:p>
          <a:p>
            <a:pPr algn="just">
              <a:lnSpc>
                <a:spcPct val="100000"/>
              </a:lnSpc>
            </a:pPr>
            <a:r>
              <a:rPr lang="en-US" sz="3400" dirty="0">
                <a:latin typeface="Times New Roman" panose="02020603050405020304" pitchFamily="18" charset="0"/>
                <a:cs typeface="Times New Roman" panose="02020603050405020304" pitchFamily="18" charset="0"/>
              </a:rPr>
              <a:t>Model evaluation is based on key performance metrics such as accuracy, precision, recall, and F1-score. For interpretability, Explainable AI (XAI) techniques—</a:t>
            </a:r>
            <a:r>
              <a:rPr lang="en-US" sz="3400" dirty="0" err="1">
                <a:latin typeface="Times New Roman" panose="02020603050405020304" pitchFamily="18" charset="0"/>
                <a:cs typeface="Times New Roman" panose="02020603050405020304" pitchFamily="18" charset="0"/>
              </a:rPr>
              <a:t>GradCAM</a:t>
            </a:r>
            <a:r>
              <a:rPr lang="en-US" sz="3400" dirty="0">
                <a:latin typeface="Times New Roman" panose="02020603050405020304" pitchFamily="18" charset="0"/>
                <a:cs typeface="Times New Roman" panose="02020603050405020304" pitchFamily="18" charset="0"/>
              </a:rPr>
              <a:t>, LIME, and SHAP—are applied to visualize important facial regions and explain model decisions. </a:t>
            </a:r>
          </a:p>
          <a:p>
            <a:pPr algn="just">
              <a:lnSpc>
                <a:spcPct val="100000"/>
              </a:lnSpc>
            </a:pPr>
            <a:r>
              <a:rPr lang="en-US" sz="3400" dirty="0">
                <a:latin typeface="Times New Roman" panose="02020603050405020304" pitchFamily="18" charset="0"/>
                <a:cs typeface="Times New Roman" panose="02020603050405020304" pitchFamily="18" charset="0"/>
              </a:rPr>
              <a:t>The entire framework is deployed through a Flask-based interface that integrates OpenCV and </a:t>
            </a:r>
            <a:r>
              <a:rPr lang="en-US" sz="3400" dirty="0" err="1">
                <a:latin typeface="Times New Roman" panose="02020603050405020304" pitchFamily="18" charset="0"/>
                <a:cs typeface="Times New Roman" panose="02020603050405020304" pitchFamily="18" charset="0"/>
              </a:rPr>
              <a:t>dlib</a:t>
            </a:r>
            <a:r>
              <a:rPr lang="en-US" sz="3400" dirty="0">
                <a:latin typeface="Times New Roman" panose="02020603050405020304" pitchFamily="18" charset="0"/>
                <a:cs typeface="Times New Roman" panose="02020603050405020304" pitchFamily="18" charset="0"/>
              </a:rPr>
              <a:t> for real-time emotion recognition, ensuring efficient and transparent human-computer interaction.</a:t>
            </a:r>
            <a:endParaRPr lang="en-IN" sz="3400" dirty="0">
              <a:latin typeface="Times New Roman" panose="02020603050405020304" pitchFamily="18" charset="0"/>
              <a:cs typeface="Times New Roman" panose="02020603050405020304" pitchFamily="18" charset="0"/>
            </a:endParaRPr>
          </a:p>
          <a:p>
            <a:pPr marL="0" indent="0" algn="just">
              <a:lnSpc>
                <a:spcPct val="110000"/>
              </a:lnSpc>
              <a:buNone/>
            </a:pPr>
            <a:r>
              <a:rPr lang="en-US" sz="2400" dirty="0">
                <a:latin typeface="Times New Roman" panose="02020603050405020304" pitchFamily="18" charset="0"/>
                <a:cs typeface="Times New Roman" panose="02020603050405020304" pitchFamily="18" charset="0"/>
              </a:rPr>
              <a:t>      </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1970" y="0"/>
            <a:ext cx="4800030" cy="887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559" y="234460"/>
            <a:ext cx="10515600" cy="678352"/>
          </a:xfrm>
        </p:spPr>
        <p:txBody>
          <a:bodyPr>
            <a:normAutofit/>
          </a:bodyPr>
          <a:lstStyle/>
          <a:p>
            <a:r>
              <a:rPr lang="en-GB" sz="2800" dirty="0">
                <a:solidFill>
                  <a:srgbClr val="002060"/>
                </a:solidFill>
                <a:latin typeface="Times New Roman" panose="02020603050405020304" pitchFamily="18" charset="0"/>
                <a:cs typeface="Times New Roman" panose="02020603050405020304" pitchFamily="18" charset="0"/>
              </a:rPr>
              <a:t>Architecture </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24182" y="0"/>
            <a:ext cx="3667818" cy="678351"/>
          </a:xfrm>
          <a:prstGeom prst="rect">
            <a:avLst/>
          </a:prstGeom>
        </p:spPr>
      </p:pic>
      <p:pic>
        <p:nvPicPr>
          <p:cNvPr id="3" name="Content Placeholder 3"/>
          <p:cNvPicPr>
            <a:picLocks noGrp="1" noChangeAspect="1"/>
          </p:cNvPicPr>
          <p:nvPr>
            <p:ph idx="1"/>
          </p:nvPr>
        </p:nvPicPr>
        <p:blipFill>
          <a:blip r:embed="rId3"/>
          <a:stretch>
            <a:fillRect/>
          </a:stretch>
        </p:blipFill>
        <p:spPr>
          <a:xfrm>
            <a:off x="3436361" y="1052970"/>
            <a:ext cx="5199062" cy="51990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2800" dirty="0">
                <a:solidFill>
                  <a:srgbClr val="002060"/>
                </a:solidFill>
                <a:latin typeface="Times New Roman" panose="02020603050405020304" pitchFamily="18" charset="0"/>
                <a:cs typeface="Times New Roman" panose="02020603050405020304" pitchFamily="18" charset="0"/>
              </a:rPr>
              <a:t>Technology Stack</a:t>
            </a:r>
            <a:endParaRPr lang="en-IN" sz="2800" dirty="0">
              <a:solidFill>
                <a:srgbClr val="002060"/>
              </a:solidFill>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p:txBody>
          <a:bodyPr/>
          <a:lstStyle/>
          <a:p>
            <a:r>
              <a:rPr lang="en-US" u="sng" dirty="0">
                <a:latin typeface="Times New Roman" panose="02020603050405020304" pitchFamily="18" charset="0"/>
                <a:cs typeface="Times New Roman" panose="02020603050405020304" pitchFamily="18" charset="0"/>
              </a:rPr>
              <a:t>SOFTWARE</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rPr>
              <a:t>REQUIREMENTS</a:t>
            </a:r>
          </a:p>
          <a:p>
            <a:endParaRPr lang="en-IN" dirty="0"/>
          </a:p>
        </p:txBody>
      </p:sp>
      <p:sp>
        <p:nvSpPr>
          <p:cNvPr id="3" name="Content Placeholder 2"/>
          <p:cNvSpPr>
            <a:spLocks noGrp="1"/>
          </p:cNvSpPr>
          <p:nvPr>
            <p:ph sz="half" idx="2"/>
          </p:nvPr>
        </p:nvSpPr>
        <p:spPr/>
        <p:txBody>
          <a:bodyPr>
            <a:normAutofit/>
          </a:bodyPr>
          <a:lstStyle/>
          <a:p>
            <a:pPr lvl="0" algn="just"/>
            <a:r>
              <a:rPr lang="en-US" sz="2400" dirty="0">
                <a:latin typeface="Times New Roman" panose="02020603050405020304" pitchFamily="18" charset="0"/>
                <a:cs typeface="Times New Roman" panose="02020603050405020304" pitchFamily="18" charset="0"/>
              </a:rPr>
              <a:t>Software: Anaconda (2023.03-1)</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Primary Language: Python (3.10.9)</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Web Framework: Flask</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Development Environment: </a:t>
            </a:r>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Notebook</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Database: Sqlite3</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Front-End Technologies: HTML, CSS, JavaScript and Bootstrap4</a:t>
            </a:r>
            <a:endParaRPr lang="en-IN" sz="2400" dirty="0">
              <a:latin typeface="Times New Roman" panose="02020603050405020304" pitchFamily="18" charset="0"/>
              <a:cs typeface="Times New Roman" panose="02020603050405020304" pitchFamily="18" charset="0"/>
            </a:endParaRPr>
          </a:p>
          <a:p>
            <a:pPr algn="just"/>
            <a:endParaRPr lang="en-IN" dirty="0"/>
          </a:p>
        </p:txBody>
      </p:sp>
      <p:sp>
        <p:nvSpPr>
          <p:cNvPr id="5" name="Text Placeholder 4"/>
          <p:cNvSpPr>
            <a:spLocks noGrp="1"/>
          </p:cNvSpPr>
          <p:nvPr>
            <p:ph type="body" sz="quarter" idx="3"/>
          </p:nvPr>
        </p:nvSpPr>
        <p:spPr/>
        <p:txBody>
          <a:bodyPr/>
          <a:lstStyle/>
          <a:p>
            <a:r>
              <a:rPr lang="en-US" u="sng" dirty="0">
                <a:latin typeface="Times New Roman" panose="02020603050405020304" pitchFamily="18" charset="0"/>
                <a:cs typeface="Times New Roman" panose="02020603050405020304" pitchFamily="18" charset="0"/>
              </a:rPr>
              <a:t>HARDWARE</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rPr>
              <a:t>REQUIREMENTS</a:t>
            </a:r>
          </a:p>
          <a:p>
            <a:endParaRPr lang="en-IN" dirty="0"/>
          </a:p>
        </p:txBody>
      </p:sp>
      <p:sp>
        <p:nvSpPr>
          <p:cNvPr id="6" name="Content Placeholder 5"/>
          <p:cNvSpPr>
            <a:spLocks noGrp="1"/>
          </p:cNvSpPr>
          <p:nvPr>
            <p:ph sz="quarter" idx="4"/>
          </p:nvPr>
        </p:nvSpPr>
        <p:spPr/>
        <p:txBody>
          <a:bodyPr>
            <a:normAutofit/>
          </a:bodyPr>
          <a:lstStyle/>
          <a:p>
            <a:pPr lvl="0"/>
            <a:r>
              <a:rPr lang="en-US" sz="2400" dirty="0">
                <a:latin typeface="Times New Roman" panose="02020603050405020304" pitchFamily="18" charset="0"/>
                <a:cs typeface="Times New Roman" panose="02020603050405020304" pitchFamily="18" charset="0"/>
              </a:rPr>
              <a:t>Operating System: Windows 10 (Min) and Above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Processor: i5 9th Gen and Above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RAM: 8GB (Min) – 16 or 32 Preferable</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Hard Disk: Free space 100 GB (Min)</a:t>
            </a:r>
            <a:endParaRPr lang="en-IN"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sz="3200" dirty="0"/>
              <a:t> </a:t>
            </a:r>
            <a:r>
              <a:rPr lang="en-SG" sz="3200" dirty="0">
                <a:solidFill>
                  <a:srgbClr val="002060"/>
                </a:solidFill>
                <a:latin typeface="Times New Roman" panose="02020603050405020304" pitchFamily="18" charset="0"/>
                <a:cs typeface="Times New Roman" panose="02020603050405020304" pitchFamily="18" charset="0"/>
              </a:rPr>
              <a:t>Key Features</a:t>
            </a:r>
            <a:br>
              <a:rPr lang="en-SG" dirty="0"/>
            </a:br>
            <a:endParaRPr lang="en-IN" dirty="0"/>
          </a:p>
        </p:txBody>
      </p:sp>
      <p:sp>
        <p:nvSpPr>
          <p:cNvPr id="3" name="Content Placeholder 2"/>
          <p:cNvSpPr>
            <a:spLocks noGrp="1"/>
          </p:cNvSpPr>
          <p:nvPr>
            <p:ph idx="1"/>
          </p:nvPr>
        </p:nvSpPr>
        <p:spPr>
          <a:xfrm>
            <a:off x="838200" y="1514246"/>
            <a:ext cx="10515600" cy="3533242"/>
          </a:xfrm>
        </p:spPr>
        <p:txBody>
          <a:bodyPr>
            <a:noAutofit/>
          </a:bodyPr>
          <a:lstStyle/>
          <a:p>
            <a:pPr algn="just"/>
            <a:r>
              <a:rPr lang="en-US" altLang="en-US" sz="2400" dirty="0">
                <a:latin typeface="Times New Roman" panose="02020603050405020304" pitchFamily="18" charset="0"/>
                <a:cs typeface="Times New Roman" panose="02020603050405020304" pitchFamily="18" charset="0"/>
              </a:rPr>
              <a:t>The system performs real-time emotion detection using facial expressions.</a:t>
            </a:r>
          </a:p>
          <a:p>
            <a:pPr algn="just"/>
            <a:r>
              <a:rPr lang="en-US" altLang="en-US" sz="2400" dirty="0">
                <a:latin typeface="Times New Roman" panose="02020603050405020304" pitchFamily="18" charset="0"/>
                <a:cs typeface="Times New Roman" panose="02020603050405020304" pitchFamily="18" charset="0"/>
              </a:rPr>
              <a:t>It uses a deep learning-based model for accurate emotion recognition.</a:t>
            </a:r>
          </a:p>
          <a:p>
            <a:pPr algn="just"/>
            <a:r>
              <a:rPr lang="en-US" altLang="en-US" sz="2400" dirty="0">
                <a:latin typeface="Times New Roman" panose="02020603050405020304" pitchFamily="18" charset="0"/>
                <a:cs typeface="Times New Roman" panose="02020603050405020304" pitchFamily="18" charset="0"/>
              </a:rPr>
              <a:t>The application has a web-based interface, making it easy for users to access.</a:t>
            </a:r>
          </a:p>
          <a:p>
            <a:pPr algn="just"/>
            <a:r>
              <a:rPr lang="en-US" altLang="en-US" sz="2400" dirty="0">
                <a:latin typeface="Times New Roman" panose="02020603050405020304" pitchFamily="18" charset="0"/>
                <a:cs typeface="Times New Roman" panose="02020603050405020304" pitchFamily="18" charset="0"/>
              </a:rPr>
              <a:t>It also includes secure user authentication for data protection.</a:t>
            </a:r>
          </a:p>
          <a:p>
            <a:pPr algn="just"/>
            <a:r>
              <a:rPr lang="en-US" altLang="en-US" sz="2400" dirty="0">
                <a:latin typeface="Times New Roman" panose="02020603050405020304" pitchFamily="18" charset="0"/>
                <a:cs typeface="Times New Roman" panose="02020603050405020304" pitchFamily="18" charset="0"/>
              </a:rPr>
              <a:t>Explainable AI is integrated to help understand model predictions.</a:t>
            </a:r>
          </a:p>
          <a:p>
            <a:pPr algn="just"/>
            <a:r>
              <a:rPr lang="en-US" altLang="en-US" sz="2400" dirty="0">
                <a:latin typeface="Times New Roman" panose="02020603050405020304" pitchFamily="18" charset="0"/>
                <a:cs typeface="Times New Roman" panose="02020603050405020304" pitchFamily="18" charset="0"/>
              </a:rPr>
              <a:t>The system provides real-time visualization of results and is designed with a scalable architecture for future expansion</a:t>
            </a:r>
          </a:p>
          <a:p>
            <a:pPr marL="0" indent="0" algn="just">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316" y="335547"/>
            <a:ext cx="10515600" cy="1361092"/>
          </a:xfrm>
        </p:spPr>
        <p:txBody>
          <a:bodyPr>
            <a:normAutofit/>
          </a:bodyPr>
          <a:lstStyle/>
          <a:p>
            <a:r>
              <a:rPr lang="en-SG" sz="2800" dirty="0">
                <a:solidFill>
                  <a:srgbClr val="002060"/>
                </a:solidFill>
                <a:latin typeface="Times New Roman" panose="02020603050405020304" pitchFamily="18" charset="0"/>
                <a:cs typeface="Times New Roman" panose="02020603050405020304" pitchFamily="18" charset="0"/>
              </a:rPr>
              <a:t>Demo Screenshots</a:t>
            </a:r>
            <a:br>
              <a:rPr lang="en-GB" sz="2800" dirty="0">
                <a:solidFill>
                  <a:srgbClr val="002060"/>
                </a:solidFill>
                <a:latin typeface="Times New Roman" panose="02020603050405020304" pitchFamily="18" charset="0"/>
                <a:cs typeface="Times New Roman" panose="02020603050405020304" pitchFamily="18" charset="0"/>
              </a:rPr>
            </a:br>
            <a:br>
              <a:rPr lang="en-GB" sz="2800" dirty="0">
                <a:solidFill>
                  <a:srgbClr val="002060"/>
                </a:solidFill>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User Authentication Module :</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4337" y="65151"/>
            <a:ext cx="4071420" cy="752996"/>
          </a:xfrm>
          <a:prstGeom prst="rect">
            <a:avLst/>
          </a:prstGeom>
        </p:spPr>
      </p:pic>
      <p:pic>
        <p:nvPicPr>
          <p:cNvPr id="5" name="Content Placeholder 4"/>
          <p:cNvPicPr>
            <a:picLocks noGrp="1" noChangeAspect="1"/>
          </p:cNvPicPr>
          <p:nvPr>
            <p:ph idx="1"/>
          </p:nvPr>
        </p:nvPicPr>
        <p:blipFill>
          <a:blip r:embed="rId3"/>
          <a:stretch>
            <a:fillRect/>
          </a:stretch>
        </p:blipFill>
        <p:spPr>
          <a:xfrm>
            <a:off x="2123440" y="1825625"/>
            <a:ext cx="7943850"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4337" y="65151"/>
            <a:ext cx="4071420" cy="752996"/>
          </a:xfrm>
          <a:prstGeom prst="rect">
            <a:avLst/>
          </a:prstGeom>
        </p:spPr>
      </p:pic>
      <p:pic>
        <p:nvPicPr>
          <p:cNvPr id="3" name="Content Placeholder 2"/>
          <p:cNvPicPr>
            <a:picLocks noGrp="1" noChangeAspect="1"/>
          </p:cNvPicPr>
          <p:nvPr>
            <p:ph idx="1"/>
          </p:nvPr>
        </p:nvPicPr>
        <p:blipFill>
          <a:blip r:embed="rId3"/>
          <a:stretch>
            <a:fillRect/>
          </a:stretch>
        </p:blipFill>
        <p:spPr>
          <a:xfrm>
            <a:off x="1146810" y="1054100"/>
            <a:ext cx="10311130" cy="51231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468" y="183169"/>
            <a:ext cx="10515600" cy="752996"/>
          </a:xfrm>
        </p:spPr>
        <p:txBody>
          <a:bodyPr>
            <a:normAutofit/>
          </a:bodyPr>
          <a:lstStyle/>
          <a:p>
            <a:r>
              <a:rPr lang="en-GB" sz="2800" dirty="0">
                <a:solidFill>
                  <a:srgbClr val="002060"/>
                </a:solidFill>
                <a:latin typeface="Times New Roman" panose="02020603050405020304" pitchFamily="18" charset="0"/>
                <a:cs typeface="Times New Roman" panose="02020603050405020304" pitchFamily="18" charset="0"/>
              </a:rPr>
              <a:t>Results of Proposed work</a:t>
            </a:r>
          </a:p>
        </p:txBody>
      </p:sp>
      <p:sp>
        <p:nvSpPr>
          <p:cNvPr id="3" name="Content Placeholder 2"/>
          <p:cNvSpPr>
            <a:spLocks noGrp="1"/>
          </p:cNvSpPr>
          <p:nvPr>
            <p:ph idx="1"/>
          </p:nvPr>
        </p:nvSpPr>
        <p:spPr>
          <a:xfrm>
            <a:off x="470468" y="818147"/>
            <a:ext cx="11464858" cy="5974702"/>
          </a:xfrm>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Output screenshots</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4337" y="65151"/>
            <a:ext cx="4071420" cy="752996"/>
          </a:xfrm>
          <a:prstGeom prst="rect">
            <a:avLst/>
          </a:prstGeom>
        </p:spPr>
      </p:pic>
      <p:pic>
        <p:nvPicPr>
          <p:cNvPr id="5" name="Content Placeholder 3"/>
          <p:cNvPicPr>
            <a:picLocks noChangeAspect="1"/>
          </p:cNvPicPr>
          <p:nvPr/>
        </p:nvPicPr>
        <p:blipFill>
          <a:blip r:embed="rId3"/>
          <a:stretch>
            <a:fillRect/>
          </a:stretch>
        </p:blipFill>
        <p:spPr>
          <a:xfrm>
            <a:off x="380037" y="1571143"/>
            <a:ext cx="6215694" cy="2818094"/>
          </a:xfrm>
          <a:prstGeom prst="rect">
            <a:avLst/>
          </a:prstGeom>
        </p:spPr>
      </p:pic>
      <p:pic>
        <p:nvPicPr>
          <p:cNvPr id="6" name="Content Placeholder 3"/>
          <p:cNvPicPr>
            <a:picLocks noChangeAspect="1"/>
          </p:cNvPicPr>
          <p:nvPr/>
        </p:nvPicPr>
        <p:blipFill>
          <a:blip r:embed="rId4"/>
          <a:stretch>
            <a:fillRect/>
          </a:stretch>
        </p:blipFill>
        <p:spPr>
          <a:xfrm>
            <a:off x="5930463" y="3133840"/>
            <a:ext cx="5625581" cy="28088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379" y="505194"/>
            <a:ext cx="10515600" cy="675385"/>
          </a:xfrm>
        </p:spPr>
        <p:txBody>
          <a:bodyPr>
            <a:normAutofit/>
          </a:bodyPr>
          <a:lstStyle/>
          <a:p>
            <a:r>
              <a:rPr lang="en-GB" sz="2800" dirty="0">
                <a:solidFill>
                  <a:srgbClr val="002060"/>
                </a:solidFill>
                <a:latin typeface="Times New Roman" panose="02020603050405020304" pitchFamily="18" charset="0"/>
                <a:cs typeface="Times New Roman" panose="02020603050405020304" pitchFamily="18" charset="0"/>
              </a:rPr>
              <a:t>Quantitative Results</a:t>
            </a:r>
          </a:p>
        </p:txBody>
      </p:sp>
      <p:sp>
        <p:nvSpPr>
          <p:cNvPr id="3" name="Content Placeholder 2"/>
          <p:cNvSpPr>
            <a:spLocks noGrp="1"/>
          </p:cNvSpPr>
          <p:nvPr>
            <p:ph idx="1"/>
          </p:nvPr>
        </p:nvSpPr>
        <p:spPr>
          <a:xfrm>
            <a:off x="838200" y="1467853"/>
            <a:ext cx="10515600" cy="4709110"/>
          </a:xfrm>
        </p:spPr>
        <p:txBody>
          <a:bodyPr/>
          <a:lstStyle/>
          <a:p>
            <a:pPr marL="0" indent="0">
              <a:buNone/>
            </a:pPr>
            <a:r>
              <a:rPr lang="en-GB" dirty="0">
                <a:latin typeface="Times New Roman" panose="02020603050405020304" pitchFamily="18" charset="0"/>
                <a:cs typeface="Times New Roman" panose="02020603050405020304" pitchFamily="18" charset="0"/>
              </a:rPr>
              <a:t>Metrics table </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73979" y="65151"/>
            <a:ext cx="3651778" cy="675385"/>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1736391487"/>
              </p:ext>
            </p:extLst>
          </p:nvPr>
        </p:nvGraphicFramePr>
        <p:xfrm>
          <a:off x="1741714" y="2339048"/>
          <a:ext cx="8548041" cy="3231865"/>
        </p:xfrm>
        <a:graphic>
          <a:graphicData uri="http://schemas.openxmlformats.org/drawingml/2006/table">
            <a:tbl>
              <a:tblPr firstRow="1" bandRow="1">
                <a:tableStyleId>{00A15C55-8517-42AA-B614-E9B94910E393}</a:tableStyleId>
              </a:tblPr>
              <a:tblGrid>
                <a:gridCol w="1690641">
                  <a:extLst>
                    <a:ext uri="{9D8B030D-6E8A-4147-A177-3AD203B41FA5}">
                      <a16:colId xmlns:a16="http://schemas.microsoft.com/office/drawing/2014/main" val="20000"/>
                    </a:ext>
                  </a:extLst>
                </a:gridCol>
                <a:gridCol w="1714350">
                  <a:extLst>
                    <a:ext uri="{9D8B030D-6E8A-4147-A177-3AD203B41FA5}">
                      <a16:colId xmlns:a16="http://schemas.microsoft.com/office/drawing/2014/main" val="20001"/>
                    </a:ext>
                  </a:extLst>
                </a:gridCol>
                <a:gridCol w="1714350">
                  <a:extLst>
                    <a:ext uri="{9D8B030D-6E8A-4147-A177-3AD203B41FA5}">
                      <a16:colId xmlns:a16="http://schemas.microsoft.com/office/drawing/2014/main" val="20002"/>
                    </a:ext>
                  </a:extLst>
                </a:gridCol>
                <a:gridCol w="1714350">
                  <a:extLst>
                    <a:ext uri="{9D8B030D-6E8A-4147-A177-3AD203B41FA5}">
                      <a16:colId xmlns:a16="http://schemas.microsoft.com/office/drawing/2014/main" val="20003"/>
                    </a:ext>
                  </a:extLst>
                </a:gridCol>
                <a:gridCol w="1714350">
                  <a:extLst>
                    <a:ext uri="{9D8B030D-6E8A-4147-A177-3AD203B41FA5}">
                      <a16:colId xmlns:a16="http://schemas.microsoft.com/office/drawing/2014/main" val="20004"/>
                    </a:ext>
                  </a:extLst>
                </a:gridCol>
              </a:tblGrid>
              <a:tr h="646373">
                <a:tc>
                  <a:txBody>
                    <a:bodyPr/>
                    <a:lstStyle/>
                    <a:p>
                      <a:r>
                        <a:rPr lang="en-IN" sz="2400" dirty="0">
                          <a:latin typeface="Times New Roman" panose="02020603050405020304" pitchFamily="18" charset="0"/>
                          <a:cs typeface="Times New Roman" panose="02020603050405020304" pitchFamily="18" charset="0"/>
                        </a:rPr>
                        <a:t>Model</a:t>
                      </a:r>
                    </a:p>
                  </a:txBody>
                  <a:tcPr/>
                </a:tc>
                <a:tc>
                  <a:txBody>
                    <a:bodyPr/>
                    <a:lstStyle/>
                    <a:p>
                      <a:r>
                        <a:rPr lang="en-IN" sz="2400" dirty="0">
                          <a:latin typeface="Times New Roman" panose="02020603050405020304" pitchFamily="18" charset="0"/>
                          <a:cs typeface="Times New Roman" panose="02020603050405020304" pitchFamily="18" charset="0"/>
                        </a:rPr>
                        <a:t>Accuracy</a:t>
                      </a:r>
                    </a:p>
                  </a:txBody>
                  <a:tcPr/>
                </a:tc>
                <a:tc>
                  <a:txBody>
                    <a:bodyPr/>
                    <a:lstStyle/>
                    <a:p>
                      <a:r>
                        <a:rPr lang="en-IN" sz="2400" dirty="0">
                          <a:latin typeface="Times New Roman" panose="02020603050405020304" pitchFamily="18" charset="0"/>
                          <a:cs typeface="Times New Roman" panose="02020603050405020304" pitchFamily="18" charset="0"/>
                        </a:rPr>
                        <a:t>Precision</a:t>
                      </a:r>
                    </a:p>
                  </a:txBody>
                  <a:tcPr/>
                </a:tc>
                <a:tc>
                  <a:txBody>
                    <a:bodyPr/>
                    <a:lstStyle/>
                    <a:p>
                      <a:r>
                        <a:rPr lang="en-IN" sz="2400" dirty="0">
                          <a:latin typeface="Times New Roman" panose="02020603050405020304" pitchFamily="18" charset="0"/>
                          <a:cs typeface="Times New Roman" panose="02020603050405020304" pitchFamily="18" charset="0"/>
                        </a:rPr>
                        <a:t>Recall</a:t>
                      </a:r>
                    </a:p>
                  </a:txBody>
                  <a:tcPr/>
                </a:tc>
                <a:tc>
                  <a:txBody>
                    <a:bodyPr/>
                    <a:lstStyle/>
                    <a:p>
                      <a:r>
                        <a:rPr lang="en-IN" sz="2400" dirty="0">
                          <a:latin typeface="Times New Roman" panose="02020603050405020304" pitchFamily="18" charset="0"/>
                          <a:cs typeface="Times New Roman" panose="02020603050405020304" pitchFamily="18" charset="0"/>
                        </a:rPr>
                        <a:t>F1 – score</a:t>
                      </a:r>
                    </a:p>
                  </a:txBody>
                  <a:tcPr/>
                </a:tc>
                <a:extLst>
                  <a:ext uri="{0D108BD9-81ED-4DB2-BD59-A6C34878D82A}">
                    <a16:rowId xmlns:a16="http://schemas.microsoft.com/office/drawing/2014/main" val="10000"/>
                  </a:ext>
                </a:extLst>
              </a:tr>
              <a:tr h="646373">
                <a:tc>
                  <a:txBody>
                    <a:bodyPr/>
                    <a:lstStyle/>
                    <a:p>
                      <a:r>
                        <a:rPr lang="en-IN" sz="2400" dirty="0">
                          <a:latin typeface="Times New Roman" panose="02020603050405020304" pitchFamily="18" charset="0"/>
                          <a:cs typeface="Times New Roman" panose="02020603050405020304" pitchFamily="18" charset="0"/>
                        </a:rPr>
                        <a:t>CNN</a:t>
                      </a:r>
                    </a:p>
                  </a:txBody>
                  <a:tcPr/>
                </a:tc>
                <a:tc>
                  <a:txBody>
                    <a:bodyPr/>
                    <a:lstStyle/>
                    <a:p>
                      <a:r>
                        <a:rPr lang="en-IN" sz="2400" dirty="0">
                          <a:latin typeface="Times New Roman" panose="02020603050405020304" pitchFamily="18" charset="0"/>
                          <a:cs typeface="Times New Roman" panose="02020603050405020304" pitchFamily="18" charset="0"/>
                        </a:rPr>
                        <a:t>0.5442</a:t>
                      </a:r>
                    </a:p>
                  </a:txBody>
                  <a:tcPr/>
                </a:tc>
                <a:tc>
                  <a:txBody>
                    <a:bodyPr/>
                    <a:lstStyle/>
                    <a:p>
                      <a:r>
                        <a:rPr lang="en-IN" sz="2400" dirty="0">
                          <a:latin typeface="Times New Roman" panose="02020603050405020304" pitchFamily="18" charset="0"/>
                          <a:cs typeface="Times New Roman" panose="02020603050405020304" pitchFamily="18" charset="0"/>
                        </a:rPr>
                        <a:t>0.5893</a:t>
                      </a:r>
                    </a:p>
                  </a:txBody>
                  <a:tcPr/>
                </a:tc>
                <a:tc>
                  <a:txBody>
                    <a:bodyPr/>
                    <a:lstStyle/>
                    <a:p>
                      <a:r>
                        <a:rPr lang="en-IN" sz="2400" dirty="0">
                          <a:latin typeface="Times New Roman" panose="02020603050405020304" pitchFamily="18" charset="0"/>
                          <a:cs typeface="Times New Roman" panose="02020603050405020304" pitchFamily="18" charset="0"/>
                        </a:rPr>
                        <a:t>0.5061</a:t>
                      </a:r>
                    </a:p>
                  </a:txBody>
                  <a:tcPr/>
                </a:tc>
                <a:tc>
                  <a:txBody>
                    <a:bodyPr/>
                    <a:lstStyle/>
                    <a:p>
                      <a:r>
                        <a:rPr lang="en-IN" sz="2400" dirty="0">
                          <a:latin typeface="Times New Roman" panose="02020603050405020304" pitchFamily="18" charset="0"/>
                          <a:cs typeface="Times New Roman" panose="02020603050405020304" pitchFamily="18" charset="0"/>
                        </a:rPr>
                        <a:t>0.5293</a:t>
                      </a:r>
                    </a:p>
                  </a:txBody>
                  <a:tcPr/>
                </a:tc>
                <a:extLst>
                  <a:ext uri="{0D108BD9-81ED-4DB2-BD59-A6C34878D82A}">
                    <a16:rowId xmlns:a16="http://schemas.microsoft.com/office/drawing/2014/main" val="10001"/>
                  </a:ext>
                </a:extLst>
              </a:tr>
              <a:tr h="646373">
                <a:tc>
                  <a:txBody>
                    <a:bodyPr/>
                    <a:lstStyle/>
                    <a:p>
                      <a:r>
                        <a:rPr lang="en-IN" sz="2400" dirty="0" err="1">
                          <a:latin typeface="Times New Roman" panose="02020603050405020304" pitchFamily="18" charset="0"/>
                          <a:cs typeface="Times New Roman" panose="02020603050405020304" pitchFamily="18" charset="0"/>
                        </a:rPr>
                        <a:t>ViT</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0.6615</a:t>
                      </a:r>
                    </a:p>
                  </a:txBody>
                  <a:tcPr/>
                </a:tc>
                <a:tc>
                  <a:txBody>
                    <a:bodyPr/>
                    <a:lstStyle/>
                    <a:p>
                      <a:r>
                        <a:rPr lang="en-IN" sz="2400" dirty="0">
                          <a:latin typeface="Times New Roman" panose="02020603050405020304" pitchFamily="18" charset="0"/>
                          <a:cs typeface="Times New Roman" panose="02020603050405020304" pitchFamily="18" charset="0"/>
                        </a:rPr>
                        <a:t>0.6169</a:t>
                      </a:r>
                    </a:p>
                  </a:txBody>
                  <a:tcPr/>
                </a:tc>
                <a:tc>
                  <a:txBody>
                    <a:bodyPr/>
                    <a:lstStyle/>
                    <a:p>
                      <a:r>
                        <a:rPr lang="en-IN" sz="2400" dirty="0">
                          <a:latin typeface="Times New Roman" panose="02020603050405020304" pitchFamily="18" charset="0"/>
                          <a:cs typeface="Times New Roman" panose="02020603050405020304" pitchFamily="18" charset="0"/>
                        </a:rPr>
                        <a:t>0.6728</a:t>
                      </a:r>
                    </a:p>
                  </a:txBody>
                  <a:tcPr/>
                </a:tc>
                <a:tc>
                  <a:txBody>
                    <a:bodyPr/>
                    <a:lstStyle/>
                    <a:p>
                      <a:r>
                        <a:rPr lang="en-IN" sz="2400" dirty="0">
                          <a:latin typeface="Times New Roman" panose="02020603050405020304" pitchFamily="18" charset="0"/>
                          <a:cs typeface="Times New Roman" panose="02020603050405020304" pitchFamily="18" charset="0"/>
                        </a:rPr>
                        <a:t>0.6333</a:t>
                      </a:r>
                    </a:p>
                  </a:txBody>
                  <a:tcPr/>
                </a:tc>
                <a:extLst>
                  <a:ext uri="{0D108BD9-81ED-4DB2-BD59-A6C34878D82A}">
                    <a16:rowId xmlns:a16="http://schemas.microsoft.com/office/drawing/2014/main" val="10002"/>
                  </a:ext>
                </a:extLst>
              </a:tr>
              <a:tr h="646373">
                <a:tc>
                  <a:txBody>
                    <a:bodyPr/>
                    <a:lstStyle/>
                    <a:p>
                      <a:r>
                        <a:rPr lang="en-IN" sz="2400" dirty="0">
                          <a:latin typeface="Times New Roman" panose="02020603050405020304" pitchFamily="18" charset="0"/>
                          <a:cs typeface="Times New Roman" panose="02020603050405020304" pitchFamily="18" charset="0"/>
                        </a:rPr>
                        <a:t>CNN + </a:t>
                      </a:r>
                      <a:r>
                        <a:rPr lang="en-IN" sz="2400" dirty="0" err="1">
                          <a:latin typeface="Times New Roman" panose="02020603050405020304" pitchFamily="18" charset="0"/>
                          <a:cs typeface="Times New Roman" panose="02020603050405020304" pitchFamily="18" charset="0"/>
                        </a:rPr>
                        <a:t>ViT</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0.6663</a:t>
                      </a:r>
                    </a:p>
                  </a:txBody>
                  <a:tcPr/>
                </a:tc>
                <a:tc>
                  <a:txBody>
                    <a:bodyPr/>
                    <a:lstStyle/>
                    <a:p>
                      <a:r>
                        <a:rPr lang="en-IN" sz="2400" dirty="0">
                          <a:latin typeface="Times New Roman" panose="02020603050405020304" pitchFamily="18" charset="0"/>
                          <a:cs typeface="Times New Roman" panose="02020603050405020304" pitchFamily="18" charset="0"/>
                        </a:rPr>
                        <a:t>0.6548</a:t>
                      </a:r>
                    </a:p>
                  </a:txBody>
                  <a:tcPr/>
                </a:tc>
                <a:tc>
                  <a:txBody>
                    <a:bodyPr/>
                    <a:lstStyle/>
                    <a:p>
                      <a:r>
                        <a:rPr lang="en-IN" sz="2400" dirty="0">
                          <a:latin typeface="Times New Roman" panose="02020603050405020304" pitchFamily="18" charset="0"/>
                          <a:cs typeface="Times New Roman" panose="02020603050405020304" pitchFamily="18" charset="0"/>
                        </a:rPr>
                        <a:t>0.6452</a:t>
                      </a:r>
                    </a:p>
                  </a:txBody>
                  <a:tcPr/>
                </a:tc>
                <a:tc>
                  <a:txBody>
                    <a:bodyPr/>
                    <a:lstStyle/>
                    <a:p>
                      <a:r>
                        <a:rPr lang="en-IN" sz="2400" dirty="0">
                          <a:latin typeface="Times New Roman" panose="02020603050405020304" pitchFamily="18" charset="0"/>
                          <a:cs typeface="Times New Roman" panose="02020603050405020304" pitchFamily="18" charset="0"/>
                        </a:rPr>
                        <a:t>0.6480</a:t>
                      </a:r>
                    </a:p>
                  </a:txBody>
                  <a:tcPr/>
                </a:tc>
                <a:extLst>
                  <a:ext uri="{0D108BD9-81ED-4DB2-BD59-A6C34878D82A}">
                    <a16:rowId xmlns:a16="http://schemas.microsoft.com/office/drawing/2014/main" val="10003"/>
                  </a:ext>
                </a:extLst>
              </a:tr>
              <a:tr h="646373">
                <a:tc>
                  <a:txBody>
                    <a:bodyPr/>
                    <a:lstStyle/>
                    <a:p>
                      <a:r>
                        <a:rPr lang="en-IN" sz="2400" dirty="0" err="1">
                          <a:latin typeface="Times New Roman" panose="02020603050405020304" pitchFamily="18" charset="0"/>
                          <a:cs typeface="Times New Roman" panose="02020603050405020304" pitchFamily="18" charset="0"/>
                        </a:rPr>
                        <a:t>Xception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0.6892</a:t>
                      </a:r>
                    </a:p>
                  </a:txBody>
                  <a:tcPr/>
                </a:tc>
                <a:tc>
                  <a:txBody>
                    <a:bodyPr/>
                    <a:lstStyle/>
                    <a:p>
                      <a:r>
                        <a:rPr lang="en-IN" sz="2400" dirty="0">
                          <a:latin typeface="Times New Roman" panose="02020603050405020304" pitchFamily="18" charset="0"/>
                          <a:cs typeface="Times New Roman" panose="02020603050405020304" pitchFamily="18" charset="0"/>
                        </a:rPr>
                        <a:t>0.6981</a:t>
                      </a:r>
                    </a:p>
                  </a:txBody>
                  <a:tcPr/>
                </a:tc>
                <a:tc>
                  <a:txBody>
                    <a:bodyPr/>
                    <a:lstStyle/>
                    <a:p>
                      <a:r>
                        <a:rPr lang="en-IN" sz="2400" dirty="0">
                          <a:latin typeface="Times New Roman" panose="02020603050405020304" pitchFamily="18" charset="0"/>
                          <a:cs typeface="Times New Roman" panose="02020603050405020304" pitchFamily="18" charset="0"/>
                        </a:rPr>
                        <a:t>0.6772</a:t>
                      </a:r>
                    </a:p>
                  </a:txBody>
                  <a:tcPr/>
                </a:tc>
                <a:tc>
                  <a:txBody>
                    <a:bodyPr/>
                    <a:lstStyle/>
                    <a:p>
                      <a:r>
                        <a:rPr lang="en-IN" sz="2400" dirty="0">
                          <a:latin typeface="Times New Roman" panose="02020603050405020304" pitchFamily="18" charset="0"/>
                          <a:cs typeface="Times New Roman" panose="02020603050405020304" pitchFamily="18" charset="0"/>
                        </a:rPr>
                        <a:t>0.6833</a:t>
                      </a:r>
                    </a:p>
                  </a:txBody>
                  <a:tcPr/>
                </a:tc>
                <a:extLst>
                  <a:ext uri="{0D108BD9-81ED-4DB2-BD59-A6C34878D82A}">
                    <a16:rowId xmlns:a16="http://schemas.microsoft.com/office/drawing/2014/main" val="406048791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a:solidFill>
                  <a:srgbClr val="002060"/>
                </a:solidFill>
                <a:latin typeface="Times New Roman" panose="02020603050405020304" pitchFamily="18" charset="0"/>
                <a:cs typeface="Times New Roman" panose="02020603050405020304" pitchFamily="18" charset="0"/>
              </a:rPr>
              <a:t>Results-Graph</a:t>
            </a:r>
            <a:r>
              <a:rPr lang="en-GB" dirty="0">
                <a:solidFill>
                  <a:srgbClr val="002060"/>
                </a:solidFill>
              </a:rPr>
              <a:t> </a:t>
            </a:r>
          </a:p>
        </p:txBody>
      </p:sp>
      <p:sp>
        <p:nvSpPr>
          <p:cNvPr id="3" name="Content Placeholder 2"/>
          <p:cNvSpPr>
            <a:spLocks noGrp="1"/>
          </p:cNvSpPr>
          <p:nvPr>
            <p:ph idx="1"/>
          </p:nvPr>
        </p:nvSpPr>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Performance graph : </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0580" y="74777"/>
            <a:ext cx="4071420" cy="752996"/>
          </a:xfrm>
          <a:prstGeom prst="rect">
            <a:avLst/>
          </a:prstGeom>
        </p:spPr>
      </p:pic>
      <p:graphicFrame>
        <p:nvGraphicFramePr>
          <p:cNvPr id="8" name="Chart 7">
            <a:extLst>
              <a:ext uri="{FF2B5EF4-FFF2-40B4-BE49-F238E27FC236}">
                <a16:creationId xmlns:a16="http://schemas.microsoft.com/office/drawing/2014/main" id="{5FD609B5-F4B8-46B2-0A35-6F22E7A3F51F}"/>
              </a:ext>
            </a:extLst>
          </p:cNvPr>
          <p:cNvGraphicFramePr>
            <a:graphicFrameLocks/>
          </p:cNvGraphicFramePr>
          <p:nvPr>
            <p:extLst>
              <p:ext uri="{D42A27DB-BD31-4B8C-83A1-F6EECF244321}">
                <p14:modId xmlns:p14="http://schemas.microsoft.com/office/powerpoint/2010/main" val="3810249748"/>
              </p:ext>
            </p:extLst>
          </p:nvPr>
        </p:nvGraphicFramePr>
        <p:xfrm>
          <a:off x="3361267" y="1027906"/>
          <a:ext cx="8536819" cy="534919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1883"/>
          </a:xfrm>
        </p:spPr>
        <p:txBody>
          <a:bodyPr>
            <a:normAutofit/>
          </a:bodyPr>
          <a:lstStyle/>
          <a:p>
            <a:r>
              <a:rPr lang="en-GB" sz="2800" dirty="0">
                <a:solidFill>
                  <a:srgbClr val="002060"/>
                </a:solidFill>
                <a:latin typeface="Times New Roman" panose="02020603050405020304" pitchFamily="18" charset="0"/>
                <a:cs typeface="Times New Roman" panose="02020603050405020304" pitchFamily="18" charset="0"/>
              </a:rPr>
              <a:t>Results </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1369805"/>
            <a:ext cx="1063677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developed system successfully detects human emotions in real time using a webcam feed.</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models such as CNN, Vision Transformer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CNN–</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hybrid, and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Xception</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effectively classify facial expressions including happiness, sadness, anger, fear, surprise, disgust, and neutral.</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implemented preprocessing techniques improved data consistency and model performance.</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achieved reliable performance based on evaluation metrics such as accuracy, precision, recall, and F1-score.</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techniques (Grad-CAM, LIME, and SHAP) successfully highlighted the important facial regions influencing emotion predictions, improving transparency and interpretability.</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Flask-based web interface integrated with OpenCV and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dlib</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enabled smooth real-time emotion detection and user interaction.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11628" y="304539"/>
            <a:ext cx="10515600" cy="752996"/>
          </a:xfrm>
        </p:spPr>
        <p:txBody>
          <a:bodyPr>
            <a:normAutofit/>
          </a:bodyPr>
          <a:lstStyle/>
          <a:p>
            <a:r>
              <a:rPr lang="en-GB" sz="2800" dirty="0">
                <a:solidFill>
                  <a:srgbClr val="002060"/>
                </a:solidFill>
                <a:latin typeface="Times New Roman" panose="02020603050405020304" pitchFamily="18" charset="0"/>
                <a:cs typeface="Times New Roman" panose="02020603050405020304" pitchFamily="18" charset="0"/>
              </a:rPr>
              <a:t>Conclusion</a:t>
            </a:r>
          </a:p>
        </p:txBody>
      </p:sp>
      <p:sp>
        <p:nvSpPr>
          <p:cNvPr id="5" name="Rectangle 1"/>
          <p:cNvSpPr>
            <a:spLocks noGrp="1" noChangeArrowheads="1"/>
          </p:cNvSpPr>
          <p:nvPr>
            <p:ph idx="1"/>
          </p:nvPr>
        </p:nvSpPr>
        <p:spPr bwMode="auto">
          <a:xfrm>
            <a:off x="609600" y="995998"/>
            <a:ext cx="11217639" cy="5618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US" sz="2400" dirty="0">
                <a:latin typeface="Times New Roman" panose="02020603050405020304" pitchFamily="18" charset="0"/>
                <a:cs typeface="Times New Roman" panose="02020603050405020304" pitchFamily="18" charset="0"/>
              </a:rPr>
              <a:t>Analyzed facial expression recognition methods and identified key limitations.</a:t>
            </a:r>
          </a:p>
          <a:p>
            <a:pPr algn="just"/>
            <a:r>
              <a:rPr lang="en-US" sz="2400" dirty="0">
                <a:latin typeface="Times New Roman" panose="02020603050405020304" pitchFamily="18" charset="0"/>
                <a:cs typeface="Times New Roman" panose="02020603050405020304" pitchFamily="18" charset="0"/>
              </a:rPr>
              <a:t>Designed a real-time deep learning–based emotion recognition system.</a:t>
            </a:r>
          </a:p>
          <a:p>
            <a:pPr algn="just"/>
            <a:r>
              <a:rPr lang="en-US" sz="2400" dirty="0">
                <a:latin typeface="Times New Roman" panose="02020603050405020304" pitchFamily="18" charset="0"/>
                <a:cs typeface="Times New Roman" panose="02020603050405020304" pitchFamily="18" charset="0"/>
              </a:rPr>
              <a:t>Selected models, set up the development environment, and implemented secure user authentication.</a:t>
            </a:r>
          </a:p>
          <a:p>
            <a:pPr algn="just"/>
            <a:r>
              <a:rPr lang="en-US" sz="2400" dirty="0">
                <a:latin typeface="Times New Roman" panose="02020603050405020304" pitchFamily="18" charset="0"/>
                <a:cs typeface="Times New Roman" panose="02020603050405020304" pitchFamily="18" charset="0"/>
              </a:rPr>
              <a:t>Prepared the system for integrating real-time detection, explainable AI, and visualization.</a:t>
            </a:r>
          </a:p>
          <a:p>
            <a:pPr marL="0" indent="0" algn="just">
              <a:buNone/>
            </a:pPr>
            <a:r>
              <a:rPr lang="en-GB" dirty="0">
                <a:solidFill>
                  <a:srgbClr val="002060"/>
                </a:solidFill>
                <a:latin typeface="Times New Roman" panose="02020603050405020304" pitchFamily="18" charset="0"/>
                <a:cs typeface="Times New Roman" panose="02020603050405020304" pitchFamily="18" charset="0"/>
              </a:rPr>
              <a:t>Future Scope</a:t>
            </a:r>
            <a:endParaRPr lang="en-GB"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Improve model accuracy using larger and more diverse facial expression datasets.</a:t>
            </a:r>
          </a:p>
          <a:p>
            <a:pPr algn="just"/>
            <a:r>
              <a:rPr lang="en-US" sz="2400" dirty="0">
                <a:latin typeface="Times New Roman" panose="02020603050405020304" pitchFamily="18" charset="0"/>
                <a:cs typeface="Times New Roman" panose="02020603050405020304" pitchFamily="18" charset="0"/>
              </a:rPr>
              <a:t>Extend the system to detect multiple faces and emotions simultaneously.</a:t>
            </a:r>
          </a:p>
          <a:p>
            <a:pPr algn="just"/>
            <a:r>
              <a:rPr lang="en-US" sz="2400" dirty="0">
                <a:latin typeface="Times New Roman" panose="02020603050405020304" pitchFamily="18" charset="0"/>
                <a:cs typeface="Times New Roman" panose="02020603050405020304" pitchFamily="18" charset="0"/>
              </a:rPr>
              <a:t>Deploy the system as a mobile application for wider accessibility.</a:t>
            </a:r>
          </a:p>
          <a:p>
            <a:pPr algn="just"/>
            <a:r>
              <a:rPr lang="en-US" sz="2400" dirty="0">
                <a:latin typeface="Times New Roman" panose="02020603050405020304" pitchFamily="18" charset="0"/>
                <a:cs typeface="Times New Roman" panose="02020603050405020304" pitchFamily="18" charset="0"/>
              </a:rPr>
              <a:t>Integrate advanced Explainable AI techniques for better transparency of predictions.</a:t>
            </a:r>
          </a:p>
          <a:p>
            <a:pPr algn="just"/>
            <a:r>
              <a:rPr lang="en-US" sz="2400" dirty="0">
                <a:latin typeface="Times New Roman" panose="02020603050405020304" pitchFamily="18" charset="0"/>
                <a:cs typeface="Times New Roman" panose="02020603050405020304" pitchFamily="18" charset="0"/>
              </a:rPr>
              <a:t>Apply the system in real-world domains such as healthcare, online learning, security, and human–computer interaction.</a:t>
            </a:r>
          </a:p>
        </p:txBody>
      </p:sp>
      <p:pic>
        <p:nvPicPr>
          <p:cNvPr id="4" name="Picture 3" descr="A close up of a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20580" y="74777"/>
            <a:ext cx="4071420" cy="75299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3768" y="2996057"/>
            <a:ext cx="7857744" cy="2426335"/>
          </a:xfrm>
        </p:spPr>
        <p:txBody>
          <a:bodyPr>
            <a:normAutofit/>
          </a:bodyPr>
          <a:lstStyle/>
          <a:p>
            <a:pPr marL="0" indent="0" algn="ctr">
              <a:buNone/>
            </a:pPr>
            <a:r>
              <a:rPr lang="en-GB" sz="5600" dirty="0">
                <a:solidFill>
                  <a:srgbClr val="002060"/>
                </a:solidFill>
              </a:rPr>
              <a:t>Thank You</a:t>
            </a:r>
          </a:p>
        </p:txBody>
      </p:sp>
      <p:pic>
        <p:nvPicPr>
          <p:cNvPr id="4" name="Picture 3"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0580" y="74777"/>
            <a:ext cx="4071420" cy="7529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otalTime>14</TotalTime>
  <Words>846</Words>
  <Application>Microsoft Office PowerPoint</Application>
  <PresentationFormat>Widescreen</PresentationFormat>
  <Paragraphs>98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Times New Roman</vt:lpstr>
      <vt:lpstr>Office Theme</vt:lpstr>
      <vt:lpstr>          Capstone Project – Phase II Project Title : Real-Time Facial Expression Recognition using Deep Learning Team Details :        Guided by :  Dr. S. Oswalt Manoj </vt:lpstr>
      <vt:lpstr>Problem Statement</vt:lpstr>
      <vt:lpstr>Existing System </vt:lpstr>
      <vt:lpstr>Proposed system</vt:lpstr>
      <vt:lpstr>Architecture </vt:lpstr>
      <vt:lpstr>Technology Stack</vt:lpstr>
      <vt:lpstr> Key Features </vt:lpstr>
      <vt:lpstr>Demo Screenshots  User Authentication Module :</vt:lpstr>
      <vt:lpstr>PowerPoint Presentation</vt:lpstr>
      <vt:lpstr>Results of Proposed work</vt:lpstr>
      <vt:lpstr>Quantitative Results</vt:lpstr>
      <vt:lpstr>Results-Graph </vt:lpstr>
      <vt:lpstr>Results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Madheswari</dc:creator>
  <cp:lastModifiedBy>Likhitha Reddy</cp:lastModifiedBy>
  <cp:revision>28</cp:revision>
  <dcterms:created xsi:type="dcterms:W3CDTF">2026-02-09T10:01:00Z</dcterms:created>
  <dcterms:modified xsi:type="dcterms:W3CDTF">2026-03-05T07:24:37Z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93BD0332B7D248DAB09053ED5B39113C_13</vt:lpwstr>
  </property>
  <property fmtid="{D5CDD505-2E9C-101B-9397-08002B2CF9AE}" pid="3" name="KSOProductBuildVer">
    <vt:lpwstr>1033-12.2.0.23196</vt:lpwstr>
  </property>
</Properties>
</file>